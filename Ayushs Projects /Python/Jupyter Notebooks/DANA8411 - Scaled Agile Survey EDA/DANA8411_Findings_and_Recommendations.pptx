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7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9862"/>
            <a:ext cx="9144000" cy="51480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7490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Agile Survey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about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3108960"/>
            <a:ext cx="2103120" cy="12801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score)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3108960"/>
            <a:ext cx="2103120" cy="12801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score)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3108960"/>
            <a:ext cx="2103120" cy="12801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 pts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89320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Finding: A Clear Paradox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executing well — but business outcomes are not materialising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"Organisations are running Scaled Agile practices well — but they are not achieving strong business outcomes."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2011680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Implementation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score)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828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80" y="1828800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56032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(middle layer)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201168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(lowest section)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828800"/>
            <a:ext cx="20116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94944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gap — best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worst metric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2286000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0" y="2286000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75120" y="2286000"/>
            <a:ext cx="1828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971800"/>
            <a:ext cx="27432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200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Disconnect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3474720"/>
            <a:ext cx="2523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track velocity &amp; deployments. Business leaders track revenue &amp; market share. These systems are not connected — neither side knows if the other is succeeding.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7832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27832" y="2971800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3200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Layer Bottleneck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37560" y="3474720"/>
            <a:ext cx="2523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Importance is the lowest practice score (3.58) with the most disagreement (Std Dev 0.94). Ceremonies run by compliance, not conviction, add overhead without value.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81344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81344" y="2971800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91072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91072" y="3200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Defined Too Broadly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91072" y="3474720"/>
            <a:ext cx="2523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like Competitive Position and Investor Confidence take years to appear. Teams cannot see the link between their daily work and these lagging indicators.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at the bottom is not flowing upward into business value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91440" cy="11521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0698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BUSINESS OUTCOMES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3502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Programme &amp; Customer Success (Q12–Q14). Not achieving market, investor, or customer wins. The weakest part of the entire survey.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133856"/>
            <a:ext cx="129844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113385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 – 3.01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16916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91440" cy="11521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859536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395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COORDINATION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66090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Portfolio level (Q6, Q7, Q9, Q10). Framework is running but not fully trusted. Highest disagreement across all sections.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2459736"/>
            <a:ext cx="129844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24597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 – 3.67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91440" cy="11521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8595360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216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TEAM EXECUTION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8678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level (Q8, Q11). Teams deliver, test, build, and define extremely well. The organisation's greatest asset — but it must connect upward.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785616"/>
            <a:ext cx="129844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06640" y="378561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 – 4.13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0" y="4343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Scores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practice sections score well above neutral — three success sections do not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— Connect Team Metrics to Business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Team Metrics to Business Outcomes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11338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data: Team Implementation (4.13) vs Enterprise Success (2.83) — 1.46 point gap; practitioners could not answer outcome questions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OKRs at team level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"complete 40 story points" with outcome-driven goals: "reduce customer complaint rate by 15% this quarter." Link every sprint goal to a business metric.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6592" y="1508760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184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"So What?" exercise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feature delivered, ask "so what does this mean for the customer?" repeatedly until you reach a measurable business outcome. Make this a team ritual.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business metrics visible in team spaces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 NPS, satisfaction scores, and revenue attribution on team dashboards alongside velocity. Teams need to see the scoreboard they are playing for.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3154680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1184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outcome reviews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01184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quarter, teams present not just what they built but what business impact it had. Creates accountability for outcomes, not just outputs.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 — Fix the ART Coordination Layer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ART Coordination Layer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11338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data: ART Importance lowest of all practice sections (3.58); highest disagreement (Std Dev 0.94); implementation exceeds importance — compliance without conviction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73152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Planning retrospective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 decisions did PI Planning enable that we could not have made without it?" If teams struggle to answer, the ceremony is not working as intended.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6592" y="1508760"/>
            <a:ext cx="73152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184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ceremonies to purpose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ART-level workshops focused on the *outcome* of each ceremony, not the mechanics. A System Demo is not about showing work — it is about getting integrated feedback.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73152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ART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8–12 teams makes ceremonies overwhelming. Fewer than 3–4 makes them redundant. Review whether ART boundaries reflect genuine value stream dependencies.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3154680"/>
            <a:ext cx="73152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1184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Release Train Engineers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01184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RTEs explicit authority to cancel or simplify ceremonies not adding value. RTEs should be coaches, not ceremony administrators enforcing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 — Strengthen the Portfolio-to-Outcome Connection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Portfolio-to-Outcome Connection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11338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data: Portfolio scores healthy (3.67) but Enterprise Success weak (2.83); Benefit Alignment scored only 2.75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LPM outcome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time from strategic initiative to first customer value; % of budget on measurable outcomes vs "keep the lights on"; benefits realisation rate per approved epic.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6592" y="150876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184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Benefits Realisation Register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 tracking every portfolio investment and recording whether expected benefits were achieved at 3, 6, and 12 months. Most organisations do not have this — its absence is why Benefit Align scored 2.75.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portfolio review checkpoints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annual or quarterly portfolio reviews with monthly checkpoints. Tightening the feedback loop between investment decisions and observed outcomes closes the value gap faster.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315468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1184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portfolio themes to team OKRs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01184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strategic theme at portfolio level should map directly to OKRs at the ART and team level. If a team cannot name which portfolio theme their current work supports, the connection is broken.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4 — Build a Line of Sight from Team to Market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 of Sight from Team Work to Market Results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11338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data: Bottom 5 scores are all external metrics: Competitive (2.67), Investor (2.68), Market Impact (2.77) — practitioners cannot see these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Feature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significant feature, define in advance: "How will we know this feature succeeded?" Measure it 4–8 weeks after release. Share results with the team that built 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150876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6592" y="1508760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184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Advisory Boards with delivery members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189280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developers, not just executives. When engineers hear from customers directly, prioritisation improves and the connection between daily work and user impact becomes real.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market feedback brief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 brief to all ART members showing competitive, customer, and market metrics. Teams do not need to own these metrics — they need to know they exist and see them change.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3154680"/>
            <a:ext cx="4224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3154680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1184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"Translation sessions" with business leaders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01184" y="353872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compliance leaders explain to delivery teams how their work affects regulatory standing or investor confidence. Builds empathy and shared language across layers.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5 &amp;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" y="68351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customer acceptance gap and create a unified outcomes dashboard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07542"/>
            <a:ext cx="422452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923806"/>
            <a:ext cx="422452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950976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93130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7555" y="10469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Customer Acceptance Gap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157962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Delivery scores 3.25 but Customer Acceptance only 2.90 — products shipped but not fully accepted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" y="1963674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190881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BDD / Example Mapping so "done" is defined as a customer-agreed test before development starts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" y="2548890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49402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regular customer demos (not just internal System Demos) to catch misalignment early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" y="3134106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07924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 Acceptance Rate as a first-class metric alongside velocity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" y="3719322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66445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Definition of Done to explicitly require customer validation, not just technical completion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841248"/>
            <a:ext cx="422452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45152" y="841248"/>
            <a:ext cx="4224528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45152" y="841248"/>
            <a:ext cx="475488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45152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75504" y="963549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Unified Outcomes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503045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Visibility gap in missing values; all success sections at or below neutral; no shared measurement system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887093"/>
            <a:ext cx="100584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887093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layer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33872" y="1887093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frequency, lead time, defect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72309"/>
            <a:ext cx="100584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2472309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layer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33872" y="2472309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objectives met, feature delivery rate, programme predictability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057525"/>
            <a:ext cx="100584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057525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layer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33872" y="3057525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themes funded vs delivered, benefits realisation progress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642741"/>
            <a:ext cx="100584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64274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33872" y="3642741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NPS, market share trend, revenue from new features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— ranked by data evidence and expected impact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292608" cy="329184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6012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960120"/>
            <a:ext cx="621792" cy="329184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9601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70432" y="960120"/>
            <a:ext cx="2651760" cy="329184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0432" y="960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22192" y="960120"/>
            <a:ext cx="2240280" cy="329184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9601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2472" y="960120"/>
            <a:ext cx="2395728" cy="329184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62472" y="9601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289304"/>
            <a:ext cx="863193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1289304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380744"/>
            <a:ext cx="530352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138074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16152" y="1325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team OKRs to business outcomes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67912" y="13258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Practice-outcome gap (1.46 pts)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08192" y="132588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measure impact, not just output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819656"/>
            <a:ext cx="863193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1819656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1911096"/>
            <a:ext cx="530352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191109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16152" y="1856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unified outcomes dashboard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67912" y="18562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gap; missing values in Q13/Q14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08192" y="185623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decisions; practitioners can answer outcome Qs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2350008"/>
            <a:ext cx="863193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2350008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2441448"/>
            <a:ext cx="530352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2441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16152" y="23865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customer acceptance (BDD/Example Mapping)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67912" y="238658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3.25 vs Acceptance 2.90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08192" y="23865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"shipped but not accepted" failures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880360"/>
            <a:ext cx="863193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6032" y="288036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2971800"/>
            <a:ext cx="53035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2971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216152" y="29169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Reinvigorate ART ceremonies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67912" y="291693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Importance 3.58, Std Dev 0.94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08192" y="29169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Regain conviction in the coordination layer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3410712"/>
            <a:ext cx="863193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56032" y="3410712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" y="3502152"/>
            <a:ext cx="53035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4360" y="350215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216152" y="34472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Benefits Realisation Register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67912" y="34472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Align lowest in Q12 at 2.75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08192" y="34472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outcome accountability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56032" y="3941064"/>
            <a:ext cx="8631936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56032" y="3941064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94360" y="4032504"/>
            <a:ext cx="53035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403250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216152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feedback loop to delivery teams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867912" y="39776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2.67; Market Impact 2.77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08192" y="39776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visibility gap between teams and market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4471416"/>
            <a:ext cx="863193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56032" y="4471416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94360" y="4562856"/>
            <a:ext cx="530352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4360" y="456285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16152" y="45079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team-level practices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867912" y="45079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Implementation already strong at 4.13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08192" y="450799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regression of the biggest asset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Working vs What Needs Improvement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assessment of the organisation's current state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 |  Findings &amp; Recommendations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422452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601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Working Well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44168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362456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13624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delivery practices are strong and trusted (4.0–4.13)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956816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1975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&amp; implementation are perfectly aligned — no commitment gap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569464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25877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practice sections sit above the positive threshold (3.5+)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182112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32004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practices show the most consensus (lowest Std Dev in the survey)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794760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" y="3813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dimensions are holistic and linked (r = 0.85 Enterprise ↔ Programme)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407408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425696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" y="442569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correlations anywhere — practices reinforce each other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224528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9601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Needs Improvement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344168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81728" y="1362456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13624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not yet materialising (2.67–3.01)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956816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81728" y="1975104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19751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cannot see the connection between work and results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569464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81728" y="2587752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5877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success sections at or below neutral (3.0)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182112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1728" y="3200400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32004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ART-level practices show the most disagreement — mixed buy-in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794760"/>
            <a:ext cx="42245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81728" y="3813048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3813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metrics (Competitive, Investor, Regulator) are weakest of all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4407408"/>
            <a:ext cx="4224528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81728" y="4425696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28032" y="442569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delivered but not always accepted — acceptance gap exists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C L U S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running.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steer it toward results.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Scaled Agile engine is running — team practices are strong, committed, and consistent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505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(competitive position, investor value, customer acceptance) are not yet materialising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96265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effort or belief — importance and implementation are perfectly aligned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ingredient is a clear, measured link between what teams deliver and what the business achieves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96512"/>
            <a:ext cx="8412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recommendations — prioritised by data evidence — provide the roadmap from operational excellence to business value.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·  Scaled Agile Survey  ·  Findings &amp; Recommendations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1781</Words>
  <Application>Microsoft Macintosh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DANA8411 — Findings &amp; Recommendations</dc:title>
  <dc:subject>PptxGenJS Presentation</dc:subject>
  <dc:creator>PptxGenJS</dc:creator>
  <cp:lastModifiedBy>Ayush Harduth</cp:lastModifiedBy>
  <cp:revision>2</cp:revision>
  <dcterms:created xsi:type="dcterms:W3CDTF">2026-04-21T18:19:08Z</dcterms:created>
  <dcterms:modified xsi:type="dcterms:W3CDTF">2026-04-22T07:13:19Z</dcterms:modified>
</cp:coreProperties>
</file>