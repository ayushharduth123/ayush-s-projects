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578608"/>
            <a:ext cx="5303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Scaled Agile Success:</a:t>
            </a:r>
            <a:endParaRPr lang="en-US" sz="3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Framework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60 Respondents  |  59 Scale Items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0292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 — who responded and how the survey is structured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50292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43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Team-level practices are the highest-rated section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50292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574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0574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Success outcomes rated at or below neutral (3.0)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0574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057400"/>
            <a:ext cx="50292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574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Importance vs implementation gaps are very small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71800"/>
            <a:ext cx="50292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29718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Survey is highly reliable (Cronbach's α &gt; 0.84)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29718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971800"/>
            <a:ext cx="50292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9718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29718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— Experience &amp; role shape perceptions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886200"/>
            <a:ext cx="50292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8862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insights &amp; strongest item relationships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38862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886200"/>
            <a:ext cx="5029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862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94960" y="388620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 for the conceptual framework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responded and how the survey is structured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8288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749247"/>
            <a:ext cx="164592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0972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097280"/>
            <a:ext cx="18288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234440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77440" y="1749247"/>
            <a:ext cx="164592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Likert-Scale Questions (1–5)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97280"/>
            <a:ext cx="1828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34440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9120" y="1749247"/>
            <a:ext cx="164592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Sections Analysed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0972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097280"/>
            <a:ext cx="2560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234440"/>
            <a:ext cx="256032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1749247"/>
            <a:ext cx="237744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Business Unit (50%)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Respondent Profile</a:t>
            </a:r>
            <a:endParaRPr lang="en-US" sz="1300" dirty="0"/>
          </a:p>
        </p:txBody>
      </p:sp>
      <p:pic>
        <p:nvPicPr>
          <p:cNvPr id="23" name="Image 0" descr="/Users/ayush/project/Ayush-s-Projects/Ayushs Projects /Python/Jupyter Notebooks/DANA8411 - Scaled Agile Survey EDA/fig_demograph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2606040"/>
            <a:ext cx="87782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Score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Likert scores (1–5) across all 9 survey sections — neutral line at 3.0</a:t>
            </a:r>
            <a:endParaRPr lang="en-US" sz="1200" dirty="0"/>
          </a:p>
        </p:txBody>
      </p:sp>
      <p:pic>
        <p:nvPicPr>
          <p:cNvPr id="6" name="Image 0" descr="/Users/ayush/project/Ayush-s-Projects/Ayushs Projects /Python/Jupyter Notebooks/DANA8411 - Scaled Agile Survey EDA/fig_section_m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5852160" cy="2560320"/>
          </a:xfrm>
          <a:prstGeom prst="rect">
            <a:avLst/>
          </a:prstGeom>
        </p:spPr>
      </p:pic>
      <p:pic>
        <p:nvPicPr>
          <p:cNvPr id="7" name="Image 1" descr="/Users/ayush/project/Ayush-s-Projects/Ayushs Projects /Python/Jupyter Notebooks/DANA8411 - Scaled Agile Survey EDA/fig_rad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960120"/>
            <a:ext cx="301752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3703320"/>
            <a:ext cx="877824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73075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capabilities (Q8/Q11) score highest (~4.1). Process &amp; governance sections (Q6/Q7/Q9/Q10) score moderately (~3.6). All three success indicator sections (Q12/Q13/Q14) score near or below 3.0 — suggesting practitioners are doing the work but not yet achieving the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— Team-Level Practices Lead the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8 (importance) &amp; 11 (implementation)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2651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26517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4.13 / 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" y="1675181"/>
            <a:ext cx="2468880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Implementation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(Q11)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176272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313432"/>
            <a:ext cx="26517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4.04 / 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" y="2799893"/>
            <a:ext cx="2468880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Importance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(Q8)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300984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300984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438144"/>
            <a:ext cx="26517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0040" y="3924605"/>
            <a:ext cx="2468880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Exceeds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by</a:t>
            </a:r>
            <a:endParaRPr lang="en-US" sz="1100" dirty="0"/>
          </a:p>
        </p:txBody>
      </p:sp>
      <p:pic>
        <p:nvPicPr>
          <p:cNvPr id="20" name="Image 0" descr="/Users/ayush/project/Ayush-s-Projects/Ayushs Projects /Python/Jupyter Notebooks/DANA8411 - Scaled Agile Survey EDA/fig_distribu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3240" y="1005840"/>
            <a:ext cx="5897880" cy="34747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Build, Test, Define &amp; Deploy are the 5 highest-rated items in the entire survey — all team-level capabilities.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— Success Outcomes Rated Below Neutral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12 (Enterprise), 13 (Programme) &amp; 14 (Customer)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265176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2.83 / 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" y="1646834"/>
            <a:ext cx="246888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(Q12)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14884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286000"/>
            <a:ext cx="265176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2.89 / 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" y="2744114"/>
            <a:ext cx="246888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Success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(Q13)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2461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383280"/>
            <a:ext cx="265176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3.01 / 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0040" y="3841394"/>
            <a:ext cx="246888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(Q14)</a:t>
            </a:r>
            <a:endParaRPr lang="en-US" sz="1100" dirty="0"/>
          </a:p>
        </p:txBody>
      </p:sp>
      <p:pic>
        <p:nvPicPr>
          <p:cNvPr id="20" name="Image 0" descr="/Users/ayush/project/Ayush-s-Projects/Ayushs Projects /Python/Jupyter Notebooks/DANA8411 - Scaled Agile Survey EDA/fig_success_like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3240" y="1005840"/>
            <a:ext cx="5897880" cy="34747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Lowest-rated items: Competitive impact (2.67), Investor impact (2.68), Regulator impact (2.68) — all external-facing success measures.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— Importance vs Implementation Gaps Are Small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what respondents say should happen vs what is happening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between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&amp; implementation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2316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2316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" y="3090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flagged with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gap (&gt; 0.5 threshold)</a:t>
            </a:r>
            <a:endParaRPr lang="en-US" sz="1050" dirty="0"/>
          </a:p>
        </p:txBody>
      </p:sp>
      <p:pic>
        <p:nvPicPr>
          <p:cNvPr id="16" name="Image 0" descr="/Users/ayush/project/Ayush-s-Projects/Ayushs Projects /Python/Jupyter Notebooks/DANA8411 - Scaled Agile Survey EDA/fig_gap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3240" y="1005840"/>
            <a:ext cx="5897880" cy="34747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issue is NOT that teams are ignoring known practices — they are implementing them. The gap is between doing the work and achieving meaningful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 — Survey Instrument Is Highly Reliable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 internal consistency test for all sections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3017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30175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15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Cronbach's Alpha?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whether questions in the same section genuinely measure the same thing.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≥ 0.9 = Excellent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≥ 0.8 = Good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≥ 0.7 = Acceptable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&lt; 0.7 = Questionable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44368"/>
            <a:ext cx="28346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Scale: α = 0.974 — Excellent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scored "Good" or above.</a:t>
            </a:r>
            <a:endParaRPr lang="en-US" sz="1100" dirty="0"/>
          </a:p>
        </p:txBody>
      </p:sp>
      <p:pic>
        <p:nvPicPr>
          <p:cNvPr id="15" name="Image 0" descr="/Users/ayush/project/Ayush-s-Projects/Ayushs Projects /Python/Jupyter Notebooks/DANA8411 - Scaled Agile Survey EDA/fig_cronba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1005840"/>
            <a:ext cx="5532120" cy="34747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is a validated, reliable research instrument — results can be reported with confidence in an academic context.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5 — Experience &amp; Role Shape Perceptions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analysis: scores by Agile experience level and job role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Agile Experience</a:t>
            </a:r>
            <a:endParaRPr lang="en-US" sz="1300" dirty="0"/>
          </a:p>
        </p:txBody>
      </p:sp>
      <p:pic>
        <p:nvPicPr>
          <p:cNvPr id="9" name="Image 0" descr="/Users/ayush/project/Ayush-s-Projects/Ayushs Projects /Python/Jupyter Notebooks/DANA8411 - Scaled Agile Survey EDA/fig_anova_ex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325880"/>
            <a:ext cx="438912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1772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Role</a:t>
            </a:r>
            <a:endParaRPr lang="en-US" sz="1300" dirty="0"/>
          </a:p>
        </p:txBody>
      </p:sp>
      <p:pic>
        <p:nvPicPr>
          <p:cNvPr id="11" name="Image 1" descr="/Users/ayush/project/Ayush-s-Projects/Ayushs Projects /Python/Jupyter Notebooks/DANA8411 - Scaled Agile Survey EDA/fig_role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325880"/>
            <a:ext cx="438912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703320"/>
            <a:ext cx="425196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73075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result: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experience level on success scores was not statistically significant (p ≥ 0.05). All experience groups rate success outcomes similarly — suggesting this is a systemic issue, not a knowledge gap.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3703320"/>
            <a:ext cx="42976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373075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insight: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respondents were early-career practitioners (&lt;1 yr experience) and classified as "Other" role. This sampling bias may explain why success indicators score low — newer practitioners may not have seen mature Scaled Agile outcomes yet.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are the different survey sections related to each other?</a:t>
            </a:r>
            <a:endParaRPr lang="en-US" sz="1200" dirty="0"/>
          </a:p>
        </p:txBody>
      </p:sp>
      <p:pic>
        <p:nvPicPr>
          <p:cNvPr id="6" name="Image 0" descr="/Users/ayush/project/Ayush-s-Projects/Ayushs Projects /Python/Jupyter Notebooks/DANA8411 - Scaled Agile Survey EDA/fig_section_cor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05156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20640" y="1051560"/>
            <a:ext cx="10972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1808" y="1088136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ART importance scores are strongly correlated (r ≈ 0.7+) — people who value one tend to value the other.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120640" y="1856232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1856232"/>
            <a:ext cx="10972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1892808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scores (Q9/Q10/Q11) are tightly correlated with each other — organisations tend to be consistently good or consistently poor at all levels.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266090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20640" y="2660904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697480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Programme success (Q12/Q13) correlate strongly with each other, as expected — they measure related outcomes.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20640" y="3465576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3465576"/>
            <a:ext cx="10972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350215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(Q14) correlates moderately with Enterprise success — external outcomes are linked but not identical to internal metrics.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20640" y="4270248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4270248"/>
            <a:ext cx="10972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1808" y="4306824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link: Importance scores (Q6–Q8) have low correlation with success outcome scores (Q12–Q14) — valuing practices does not automatically lead to better outcomes.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&amp; Lowest Rated Items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 means — what respondents value most and least</a:t>
            </a:r>
            <a:endParaRPr lang="en-US" sz="1200" dirty="0"/>
          </a:p>
        </p:txBody>
      </p:sp>
      <p:pic>
        <p:nvPicPr>
          <p:cNvPr id="6" name="Image 0" descr="/Users/ayush/project/Ayush-s-Projects/Ayushs Projects /Python/Jupyter Notebooks/DANA8411 - Scaled Agile Survey EDA/fig_top_bott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87782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315968"/>
            <a:ext cx="42519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34340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 are all team-level execution capabilities — Delivery, Test, Build, Define, Deploy. These should be core framework pillars.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4315968"/>
            <a:ext cx="425196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434340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items are external success metrics — competitive, investor, regulator &amp; industry impact. These need targeted intervention.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67665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96926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execution is the foundation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19786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Build, Test, Define, Deploy, and Deliver at the core of the conceptual framework — these are what practitioners value most and do best.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457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764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outcomes need a bridge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199339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practices is not enough. The framework must explain HOW team-level execution connects to enterprise/customer outcomes.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603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exists — close the loop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importance–implementation gaps show organisations are walking the talk. Focus research on outcome measurement, not practice adoption.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are statistically sound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358444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Cronbach's α values exceed 0.84. The data is reliable enough to support regression analysis or structural equation modelling.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5137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with experienced sample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51560" y="437997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respondents are early-career. A follow-up study targeting 3+ year practitioners may reveal higher success scores and stronger correlations.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DANA8411 — Conceptual Framework for Scaled Agile Success</dc:title>
  <dc:subject>PptxGenJS Presentation</dc:subject>
  <dc:creator>DANA8411</dc:creator>
  <cp:lastModifiedBy>DANA8411</cp:lastModifiedBy>
  <cp:revision>1</cp:revision>
  <dcterms:created xsi:type="dcterms:W3CDTF">2026-04-21T11:36:28Z</dcterms:created>
  <dcterms:modified xsi:type="dcterms:W3CDTF">2026-04-21T11:36:28Z</dcterms:modified>
</cp:coreProperties>
</file>